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8" r:id="rId5"/>
    <p:sldId id="269" r:id="rId6"/>
    <p:sldId id="260" r:id="rId7"/>
    <p:sldId id="267" r:id="rId8"/>
    <p:sldId id="270" r:id="rId9"/>
    <p:sldId id="272" r:id="rId10"/>
    <p:sldId id="271" r:id="rId11"/>
    <p:sldId id="262" r:id="rId12"/>
    <p:sldId id="273" r:id="rId13"/>
    <p:sldId id="274" r:id="rId14"/>
    <p:sldId id="275" r:id="rId15"/>
    <p:sldId id="281" r:id="rId16"/>
    <p:sldId id="282" r:id="rId17"/>
    <p:sldId id="280" r:id="rId18"/>
    <p:sldId id="283" r:id="rId19"/>
    <p:sldId id="265" r:id="rId20"/>
    <p:sldId id="266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71" autoAdjust="0"/>
  </p:normalViewPr>
  <p:slideViewPr>
    <p:cSldViewPr snapToGrid="0">
      <p:cViewPr>
        <p:scale>
          <a:sx n="100" d="100"/>
          <a:sy n="100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FE51C-C649-49D1-B816-4C636609ACC7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770F7-F26F-43A3-ABFA-CD7FA018F3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52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你只需要講三件事：</a:t>
            </a:r>
          </a:p>
          <a:p>
            <a:r>
              <a:rPr lang="zh-TW" altLang="en-US" sz="1200" b="1" dirty="0"/>
              <a:t>① </a:t>
            </a:r>
            <a:r>
              <a:rPr lang="en-US" altLang="zh-TW" sz="1200" b="1" dirty="0"/>
              <a:t>CSAP-</a:t>
            </a:r>
            <a:r>
              <a:rPr lang="en-US" altLang="zh-TW" sz="1200" b="1" dirty="0" err="1"/>
              <a:t>UNet</a:t>
            </a:r>
            <a:r>
              <a:rPr lang="en-US" altLang="zh-TW" sz="1200" b="1" dirty="0"/>
              <a:t> </a:t>
            </a:r>
            <a:r>
              <a:rPr lang="zh-TW" altLang="en-US" sz="1200" b="1" dirty="0"/>
              <a:t>有兩條分支</a:t>
            </a:r>
          </a:p>
          <a:p>
            <a:r>
              <a:rPr lang="en-US" altLang="zh-TW" sz="1200" dirty="0"/>
              <a:t>CNN branch</a:t>
            </a:r>
          </a:p>
          <a:p>
            <a:r>
              <a:rPr lang="en-US" altLang="zh-TW" sz="1200" dirty="0"/>
              <a:t>Transformer branch</a:t>
            </a:r>
          </a:p>
          <a:p>
            <a:r>
              <a:rPr lang="en-US" altLang="zh-TW" sz="1200" b="1" dirty="0"/>
              <a:t>② CBAM </a:t>
            </a:r>
            <a:r>
              <a:rPr lang="zh-TW" altLang="en-US" sz="1200" b="1" dirty="0"/>
              <a:t>出現兩次</a:t>
            </a:r>
          </a:p>
          <a:p>
            <a:r>
              <a:rPr lang="en-US" altLang="zh-TW" sz="1200" dirty="0"/>
              <a:t>CNN branch attention</a:t>
            </a:r>
          </a:p>
          <a:p>
            <a:r>
              <a:rPr lang="en-US" altLang="zh-TW" sz="1200" dirty="0"/>
              <a:t>Transformer branch attention</a:t>
            </a:r>
            <a:br>
              <a:rPr lang="en-US" altLang="zh-TW" sz="1200" dirty="0"/>
            </a:br>
            <a:r>
              <a:rPr lang="zh-TW" altLang="en-US" sz="1200" dirty="0"/>
              <a:t>（這裡就是你可以改的地方）</a:t>
            </a:r>
          </a:p>
          <a:p>
            <a:r>
              <a:rPr lang="zh-TW" altLang="en-US" sz="1200" b="1" dirty="0"/>
              <a:t>③ </a:t>
            </a:r>
            <a:r>
              <a:rPr lang="en-US" altLang="zh-TW" sz="1200" b="1" dirty="0"/>
              <a:t>AFM (Attention Fusion Module) </a:t>
            </a:r>
            <a:r>
              <a:rPr lang="zh-TW" altLang="en-US" sz="1200" b="1" dirty="0"/>
              <a:t>是模型關鍵</a:t>
            </a:r>
          </a:p>
          <a:p>
            <a:r>
              <a:rPr lang="zh-TW" altLang="en-US" sz="1200" dirty="0"/>
              <a:t>你要表達的是：</a:t>
            </a:r>
          </a:p>
          <a:p>
            <a:r>
              <a:rPr lang="zh-TW" altLang="en-US" sz="1200" i="1" dirty="0"/>
              <a:t>如果 </a:t>
            </a:r>
            <a:r>
              <a:rPr lang="en-US" altLang="zh-TW" sz="1200" i="1" dirty="0"/>
              <a:t>attention </a:t>
            </a:r>
            <a:r>
              <a:rPr lang="zh-TW" altLang="en-US" sz="1200" i="1" dirty="0"/>
              <a:t>換掉，</a:t>
            </a:r>
            <a:r>
              <a:rPr lang="en-US" altLang="zh-TW" sz="1200" i="1" dirty="0"/>
              <a:t>AFM </a:t>
            </a:r>
            <a:r>
              <a:rPr lang="zh-TW" altLang="en-US" sz="1200" i="1" dirty="0"/>
              <a:t>整體權重也會重新計算 → 會有明顯影響。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491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B880-F349-3582-FE0D-4F93503C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7E5EEF-C9A7-ADAE-E237-963CCB811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207D9B-28CE-70D7-E1DC-E21B68707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你只需要講三件事：</a:t>
            </a:r>
          </a:p>
          <a:p>
            <a:r>
              <a:rPr lang="zh-TW" altLang="en-US" sz="1200" b="1" dirty="0"/>
              <a:t>① </a:t>
            </a:r>
            <a:r>
              <a:rPr lang="en-US" altLang="zh-TW" sz="1200" b="1" dirty="0"/>
              <a:t>CSAP-</a:t>
            </a:r>
            <a:r>
              <a:rPr lang="en-US" altLang="zh-TW" sz="1200" b="1" dirty="0" err="1"/>
              <a:t>UNet</a:t>
            </a:r>
            <a:r>
              <a:rPr lang="en-US" altLang="zh-TW" sz="1200" b="1" dirty="0"/>
              <a:t> </a:t>
            </a:r>
            <a:r>
              <a:rPr lang="zh-TW" altLang="en-US" sz="1200" b="1" dirty="0"/>
              <a:t>有兩條分支</a:t>
            </a:r>
          </a:p>
          <a:p>
            <a:r>
              <a:rPr lang="en-US" altLang="zh-TW" sz="1200" dirty="0"/>
              <a:t>CNN branch</a:t>
            </a:r>
          </a:p>
          <a:p>
            <a:r>
              <a:rPr lang="en-US" altLang="zh-TW" sz="1200" dirty="0"/>
              <a:t>Transformer branch</a:t>
            </a:r>
          </a:p>
          <a:p>
            <a:r>
              <a:rPr lang="en-US" altLang="zh-TW" sz="1200" b="1" dirty="0"/>
              <a:t>② CBAM </a:t>
            </a:r>
            <a:r>
              <a:rPr lang="zh-TW" altLang="en-US" sz="1200" b="1" dirty="0"/>
              <a:t>出現兩次</a:t>
            </a:r>
          </a:p>
          <a:p>
            <a:r>
              <a:rPr lang="en-US" altLang="zh-TW" sz="1200" dirty="0"/>
              <a:t>CNN branch attention</a:t>
            </a:r>
          </a:p>
          <a:p>
            <a:r>
              <a:rPr lang="en-US" altLang="zh-TW" sz="1200" dirty="0"/>
              <a:t>Transformer branch attention</a:t>
            </a:r>
            <a:br>
              <a:rPr lang="en-US" altLang="zh-TW" sz="1200" dirty="0"/>
            </a:br>
            <a:r>
              <a:rPr lang="zh-TW" altLang="en-US" sz="1200" dirty="0"/>
              <a:t>（這裡就是你可以改的地方）</a:t>
            </a:r>
          </a:p>
          <a:p>
            <a:r>
              <a:rPr lang="zh-TW" altLang="en-US" sz="1200" b="1" dirty="0"/>
              <a:t>③ </a:t>
            </a:r>
            <a:r>
              <a:rPr lang="en-US" altLang="zh-TW" sz="1200" b="1" dirty="0"/>
              <a:t>AFM (Attention Fusion Module) </a:t>
            </a:r>
            <a:r>
              <a:rPr lang="zh-TW" altLang="en-US" sz="1200" b="1" dirty="0"/>
              <a:t>是模型關鍵</a:t>
            </a:r>
          </a:p>
          <a:p>
            <a:r>
              <a:rPr lang="zh-TW" altLang="en-US" sz="1200" dirty="0"/>
              <a:t>你要表達的是：</a:t>
            </a:r>
          </a:p>
          <a:p>
            <a:r>
              <a:rPr lang="zh-TW" altLang="en-US" sz="1200" i="1" dirty="0"/>
              <a:t>如果 </a:t>
            </a:r>
            <a:r>
              <a:rPr lang="en-US" altLang="zh-TW" sz="1200" i="1" dirty="0"/>
              <a:t>attention </a:t>
            </a:r>
            <a:r>
              <a:rPr lang="zh-TW" altLang="en-US" sz="1200" i="1" dirty="0"/>
              <a:t>換掉，</a:t>
            </a:r>
            <a:r>
              <a:rPr lang="en-US" altLang="zh-TW" sz="1200" i="1" dirty="0"/>
              <a:t>AFM </a:t>
            </a:r>
            <a:r>
              <a:rPr lang="zh-TW" altLang="en-US" sz="1200" i="1" dirty="0"/>
              <a:t>整體權重也會重新計算 → 會有明顯影響。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700084-40EF-5FAF-CC69-10ADB8D07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302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0474-AEA3-267E-3A54-D7A2DBEC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212F27-AC5D-E71E-BE6A-B935DAF29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F7431B-CB4C-C0DF-A1C1-DA7E0B57D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你只需要講三件事：</a:t>
            </a:r>
          </a:p>
          <a:p>
            <a:r>
              <a:rPr lang="zh-TW" altLang="en-US" sz="1200" b="1" dirty="0"/>
              <a:t>① </a:t>
            </a:r>
            <a:r>
              <a:rPr lang="en-US" altLang="zh-TW" sz="1200" b="1" dirty="0"/>
              <a:t>CSAP-</a:t>
            </a:r>
            <a:r>
              <a:rPr lang="en-US" altLang="zh-TW" sz="1200" b="1" dirty="0" err="1"/>
              <a:t>UNet</a:t>
            </a:r>
            <a:r>
              <a:rPr lang="en-US" altLang="zh-TW" sz="1200" b="1" dirty="0"/>
              <a:t> </a:t>
            </a:r>
            <a:r>
              <a:rPr lang="zh-TW" altLang="en-US" sz="1200" b="1" dirty="0"/>
              <a:t>有兩條分支</a:t>
            </a:r>
          </a:p>
          <a:p>
            <a:r>
              <a:rPr lang="en-US" altLang="zh-TW" sz="1200" dirty="0"/>
              <a:t>CNN branch</a:t>
            </a:r>
          </a:p>
          <a:p>
            <a:r>
              <a:rPr lang="en-US" altLang="zh-TW" sz="1200" dirty="0"/>
              <a:t>Transformer branch</a:t>
            </a:r>
          </a:p>
          <a:p>
            <a:r>
              <a:rPr lang="en-US" altLang="zh-TW" sz="1200" b="1" dirty="0"/>
              <a:t>② CBAM </a:t>
            </a:r>
            <a:r>
              <a:rPr lang="zh-TW" altLang="en-US" sz="1200" b="1" dirty="0"/>
              <a:t>出現兩次</a:t>
            </a:r>
          </a:p>
          <a:p>
            <a:r>
              <a:rPr lang="en-US" altLang="zh-TW" sz="1200" dirty="0"/>
              <a:t>CNN branch attention</a:t>
            </a:r>
          </a:p>
          <a:p>
            <a:r>
              <a:rPr lang="en-US" altLang="zh-TW" sz="1200" dirty="0"/>
              <a:t>Transformer branch attention</a:t>
            </a:r>
            <a:br>
              <a:rPr lang="en-US" altLang="zh-TW" sz="1200" dirty="0"/>
            </a:br>
            <a:r>
              <a:rPr lang="zh-TW" altLang="en-US" sz="1200" dirty="0"/>
              <a:t>（這裡就是你可以改的地方）</a:t>
            </a:r>
          </a:p>
          <a:p>
            <a:r>
              <a:rPr lang="zh-TW" altLang="en-US" sz="1200" b="1" dirty="0"/>
              <a:t>③ </a:t>
            </a:r>
            <a:r>
              <a:rPr lang="en-US" altLang="zh-TW" sz="1200" b="1" dirty="0"/>
              <a:t>AFM (Attention Fusion Module) </a:t>
            </a:r>
            <a:r>
              <a:rPr lang="zh-TW" altLang="en-US" sz="1200" b="1" dirty="0"/>
              <a:t>是模型關鍵</a:t>
            </a:r>
          </a:p>
          <a:p>
            <a:r>
              <a:rPr lang="zh-TW" altLang="en-US" sz="1200" dirty="0"/>
              <a:t>你要表達的是：</a:t>
            </a:r>
          </a:p>
          <a:p>
            <a:r>
              <a:rPr lang="zh-TW" altLang="en-US" sz="1200" i="1" dirty="0"/>
              <a:t>如果 </a:t>
            </a:r>
            <a:r>
              <a:rPr lang="en-US" altLang="zh-TW" sz="1200" i="1" dirty="0"/>
              <a:t>attention </a:t>
            </a:r>
            <a:r>
              <a:rPr lang="zh-TW" altLang="en-US" sz="1200" i="1" dirty="0"/>
              <a:t>換掉，</a:t>
            </a:r>
            <a:r>
              <a:rPr lang="en-US" altLang="zh-TW" sz="1200" i="1" dirty="0"/>
              <a:t>AFM </a:t>
            </a:r>
            <a:r>
              <a:rPr lang="zh-TW" altLang="en-US" sz="1200" i="1" dirty="0"/>
              <a:t>整體權重也會重新計算 → 會有明顯影響。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DB6852-365B-9AE4-E4E3-865498953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694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5C01-E0BE-CC71-00BC-BA3DDD03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ED318A0-9C90-C5CA-3751-4B39020C1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B1C51D-4163-1BBB-AAC7-F3ABA596B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C03B08-BEE0-F868-BCDA-B7B91695B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10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EDF3-B10E-7810-CF4B-DAFDBE06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F44C1D7-BC71-E2F6-234E-6B93A6314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F12854-7A34-E0A0-27C7-0831488FB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530E23-0339-6AB6-8783-A654979F0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34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1F21-9C38-44DD-AEAC-031D5419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72D471-4F06-1E91-3405-F092E9C01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1B81F1F-73A7-2D22-7601-4F249AFB7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893FC9-F6B2-18A8-4289-D6CD9D792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0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AFD3-F330-F9D2-0ADA-3EFDC5C1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8CCFEB-E7CD-6206-0AB7-D28A7A886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65CAD0-9A0E-A651-AC5D-CFD33B5E0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B455B-928E-99F6-7DEB-49E1424EE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523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8D0B-FD1E-2935-BB78-AA939256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2D09A6-7070-4AD1-E639-EC22F4445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977E8B-A631-7761-049A-1F9CC8A5A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E9844-C19C-1A12-98A5-CB9EB3950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75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7C35-916C-A6E2-4776-EAF0B811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0F8B27-1E57-0DEB-5379-F5FD666A0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E0777-01DA-DEA9-E423-02E725BCC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C6A1-A6DB-B85D-E8B6-44EF580A3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917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1F01-E746-6481-6419-762B9C1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A50DB75-46A8-107D-31D4-3809A18A0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25073EA-F838-DE89-8D98-DEC6217BA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9BF677-8B8F-D053-2634-778E495A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009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2826-7C4A-0A15-4879-4668EF55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32BF26-D18C-3DB2-4B7F-DAE47C969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3D5567-BEB0-956F-B793-F10DA781F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60F25A-5D13-D403-DA30-5F2F92036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CC5F-2EAB-6E8D-5929-D3C8ABB1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FA6A9F-8989-F7B8-3596-85013F678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A11860-1A20-47CA-AB28-21A70BD1D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F346EC-A87F-0436-9E1D-C0EE0D7D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754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91FA-F88C-6744-F582-820209A9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2E1A8A-4CF5-9695-2A9F-A25082FDC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D06B07-7661-AF6A-7D75-3F2671089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0030D5-BD8E-9F5C-DC29-560B79DB7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770F7-F26F-43A3-ABFA-CD7FA018F3B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90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D15E7-62D2-58FC-6DEF-D9F4490E3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3D3655-6D67-1001-F660-2CA378490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551E06-2BB6-0423-00AC-8B6B7B6C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5F9118-B642-70D6-6DA4-16BF09C0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DF998E-3889-9DB7-9A24-816E8F86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32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90AECF-FF05-7228-5E57-9D5519C0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7102D8-2B06-DFFA-C578-7A81AE62D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C182DA-ED7C-09AB-AF9B-C06676A7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97787C-3FD0-73A8-AF10-1321AE69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5EB4E8-AB6A-1602-0F85-CA8D1A01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22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8D573A-BADE-0E7F-6748-6182B553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E8666E-8203-B248-FD48-7670FF7B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83E56E-B799-CF8F-4D7F-60D39D85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EFCEE3-75CD-489F-ACB9-539D3323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58D3DF-C598-5375-586F-39AE6A93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82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62486-398A-9F3B-DDE6-9226EB3F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95F8CE-9DB6-56A6-8FDB-7DBC531A1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A1BC9A-E23A-6EDA-2C24-03070CE54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FCD9C4-6936-A209-2DDF-0CD6AFD6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97E11D-45D6-5D99-73DF-87B375C0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417F1B-CFCD-5483-06B9-E0F7692B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608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3505AB-6C62-AB04-9F9C-42E25584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8615A-CC78-2AE6-83DB-4410B89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7A1C20-7359-9007-57E8-B8C39BF9D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DE2700-B690-CF63-DBCA-09E4D3ECF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11B4E2C-8A56-4B4B-C900-D6ED51C44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044667A-A541-7FED-D8D8-E7AACA96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0287BB-0F41-9B4E-5223-8FBFD2A8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B767FC4-17E6-4890-B728-5C8C1820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41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D46D6-6B7B-CB2A-B6E7-687109BB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4FDFF5D-E141-E1D0-81D1-A34A721B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34A169F-BD75-8BB2-7E29-F8E48F6F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AA0095-542E-587D-D471-F177AAB2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43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6B1A018-C838-96C3-7D0C-DC728283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4577AF6-21D9-1C57-B4FA-45F197A4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C37E0-D40F-FFC8-44EB-4E72C0C1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98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51C4E3-6418-C997-E59A-75F31E30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A4EEDE-9DB4-B943-54FB-EF67A4E5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AB977B-9BBD-ACC3-B3C2-102F751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6ED4F1-1CB5-7798-3BFF-7135F2F5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645E0F-F0EE-62D9-41FD-404DBC16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CDC5F1-1328-FBF7-1CA5-44BE1D4D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65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BDBBB0-ACB8-38C2-3F93-CA553A13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8CBF1D3-664D-0478-E163-DA07DA339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9BC190-08D1-B7D0-91EC-B1B6BBCE1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E3CA9A-A2BA-4085-0C87-790329CD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3156D7-4FEE-99EC-5757-56CFB327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8777ED-A42B-A4FF-620A-CB1262EB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475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49041-A8F9-7CEC-9DA6-5A08E315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8D03B5-79CB-87C8-845C-D50D717E5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03ECCA-E3DF-0DDD-504C-0524AF52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A5A09E-F2BC-A3AC-97F0-467DB8FA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8E6A86-2164-0FD2-3694-BD194D78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49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A5C60E-0510-10B8-1C7D-6DBFE9935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D636CED-80D2-7170-19DA-9509ADB96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E96539-E1FA-6BDD-7B3F-1217AB31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924D8D-DC9E-264E-D001-F2528000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D2E658-3175-4291-F04F-5E379C5F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08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E0DEFD4-11C2-C856-FC25-71619A2D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62E3A4-297D-32DA-1A1C-0905A5C95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369332-0433-E9F2-AE68-4A5A4BC3B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EE731-CD6B-4371-855B-8B38D3EF2432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38E606-757A-2A07-3EDC-4052D740E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16C733-BAA4-A238-F1CB-198DDFB73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570F2-AED6-4761-8795-DF70BCEA45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32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41551-8BA6-151E-396C-E01CA0EC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947" y="1613276"/>
            <a:ext cx="9946105" cy="1857626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注意力模組替換與多尺度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CPCA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的效能分析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F3C1B4BD-3976-F50B-E670-9B43A586EFAB}"/>
              </a:ext>
            </a:extLst>
          </p:cNvPr>
          <p:cNvSpPr txBox="1">
            <a:spLocks/>
          </p:cNvSpPr>
          <p:nvPr/>
        </p:nvSpPr>
        <p:spPr>
          <a:xfrm>
            <a:off x="1524000" y="431591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i="1" dirty="0"/>
              <a:t>Class:</a:t>
            </a:r>
            <a:r>
              <a:rPr lang="zh-TW" altLang="en-US" i="1" dirty="0"/>
              <a:t>資科所 碩一</a:t>
            </a:r>
            <a:endParaRPr lang="en-US" altLang="zh-TW" i="1" dirty="0"/>
          </a:p>
          <a:p>
            <a:pPr algn="l"/>
            <a:r>
              <a:rPr lang="en-US" altLang="zh-TW" i="1" dirty="0"/>
              <a:t>Student</a:t>
            </a:r>
            <a:r>
              <a:rPr lang="zh-TW" altLang="en-US" i="1" dirty="0"/>
              <a:t> </a:t>
            </a:r>
            <a:r>
              <a:rPr lang="en-US" altLang="zh-TW" i="1" dirty="0"/>
              <a:t>ID:7114095022</a:t>
            </a:r>
          </a:p>
          <a:p>
            <a:pPr algn="l"/>
            <a:r>
              <a:rPr lang="en-US" altLang="zh-TW" i="1" dirty="0"/>
              <a:t>Name:</a:t>
            </a:r>
            <a:r>
              <a:rPr lang="zh-TW" altLang="en-US" i="1" dirty="0"/>
              <a:t>黃紹綱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187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D9E30-93B4-F7BF-6044-8BEB6242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Motivation /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057DDB-CF76-A456-EFC1-1899ED59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0242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原始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CBAM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注意力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在醫療影像分割表現很好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但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CBAM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是傳統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CNN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的注意力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可能不是最適合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Transformer + CNN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的混合架構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我提出的問題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如果把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CBAM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換成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CPCA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Channel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Prior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Convolutional Attention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），效果會更好嗎？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延伸的思考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不同的卷積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receptive field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3–5–7 vs 7–11–21 vs 11–21–41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）會造成什麼差異？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223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5D698-1B03-790C-47C0-A1C5C198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371F6F-4085-AC04-DCA7-86C5C8C7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模型架構重點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整體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0" name="內容版面配置區 19">
            <a:extLst>
              <a:ext uri="{FF2B5EF4-FFF2-40B4-BE49-F238E27FC236}">
                <a16:creationId xmlns:a16="http://schemas.microsoft.com/office/drawing/2014/main" id="{C8433390-5FDA-2C8D-5C38-72ABD422F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7846" y="1825625"/>
            <a:ext cx="7596307" cy="4351338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C5552C3-05AC-7444-B8B3-F1F1E1F0D7E7}"/>
              </a:ext>
            </a:extLst>
          </p:cNvPr>
          <p:cNvSpPr/>
          <p:nvPr/>
        </p:nvSpPr>
        <p:spPr>
          <a:xfrm>
            <a:off x="5586608" y="3607496"/>
            <a:ext cx="864296" cy="160333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13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D894-DFFD-5B2D-4F13-FA57AE46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382DD-33B4-81AF-B119-3240E52B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模型架構重點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(AFM)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B5F6AE2-BA3F-D23A-89F9-E2D4FDA61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4238" y="1825624"/>
            <a:ext cx="7683523" cy="4351338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31E054-9CAC-609E-5CF5-141CCC4F7FAE}"/>
              </a:ext>
            </a:extLst>
          </p:cNvPr>
          <p:cNvSpPr/>
          <p:nvPr/>
        </p:nvSpPr>
        <p:spPr>
          <a:xfrm>
            <a:off x="4528159" y="3820438"/>
            <a:ext cx="657616" cy="3757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BF5CABC-78C3-BD75-DF1F-646173C86E9B}"/>
              </a:ext>
            </a:extLst>
          </p:cNvPr>
          <p:cNvSpPr/>
          <p:nvPr/>
        </p:nvSpPr>
        <p:spPr>
          <a:xfrm>
            <a:off x="4528159" y="5175336"/>
            <a:ext cx="657616" cy="3757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359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B2C73-66FB-6E55-DCDD-06F7D085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274FE-FB93-C4B1-19FB-AA3F8BC8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CSAP-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UNet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模型架構重點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替換部分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51FB9AA-1A62-7DFA-D3B1-509D4F9CA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098" y="2281791"/>
            <a:ext cx="1005980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6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EA48-2777-3715-3593-34E50A70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47AD22A-C418-44C2-DF85-97C28102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Proposed Method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81D2B80-6807-E8C8-C298-D8A9B6664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4595"/>
            <a:ext cx="9300411" cy="4958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A. 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用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CPCA 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替換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CBAM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（整體替換）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CBAM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（通道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+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空間注意力） →</a:t>
            </a:r>
            <a:b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CPCA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（多尺度卷積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+ PCA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空間強化）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B. 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設計不同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CPCA kernel 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組合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(1,3,5)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(3,5,7)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(7,11,21)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(11,21,41)</a:t>
            </a:r>
          </a:p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C. Hybrid 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設計：混合使用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CBAM &amp; CPCA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Hybrid-A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CNN=CBAM / TR=CPCA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Hybrid-B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CNN=CPCA / TR=CBAM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E041695-65EF-B6E2-CC2C-6044828C6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712" y="2860158"/>
            <a:ext cx="5816088" cy="22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5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594F-E5B8-A621-96E2-C9116951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B3A1AF6-8C4A-3BA8-9542-D497D5F3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Dataset &amp; Training Setup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E78BE8A-A06A-A548-98AE-DC3EEC27EE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6354"/>
            <a:ext cx="6519734" cy="5086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Dataset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ISIC-2017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Train: 2000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Val: 150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Test: 600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Image size: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192×256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（依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CSAP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論文設定）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Preprocessing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Resize to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192×256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Min–Max Normalization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0~1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Mask binarization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&gt;0.5 → 1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Dataset converted to .</a:t>
            </a:r>
            <a:r>
              <a:rPr lang="en-US" altLang="zh-TW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npy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for faster IO</a:t>
            </a:r>
          </a:p>
          <a:p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04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D999-0514-7E55-BA5E-7726533F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6045451-30B8-ACCF-8A4F-8BF89B34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Dataset &amp; Training Setup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D8D9D2-31CB-3E21-2F15-73E290C43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647700" cy="5031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 Augmentation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Horizontal flip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p=0.5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Vertical flip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p=0.5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Training Setup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Loss: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BCE + Dice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（依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CSAP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論文設定）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Optimizer: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Adam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lr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=1e-4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Batch size: 4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Epochs: 80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（依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CSAP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論文設定）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Backbone: 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DeiT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-small pretrained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GPU: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RTX 5070</a:t>
            </a:r>
          </a:p>
          <a:p>
            <a:pPr marL="0" indent="0">
              <a:buNone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79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E17C-4B16-5242-18A3-1089CD4A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CBC8373-F91C-2D0A-060F-BEFDA1CE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Quantitative indices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60452D-9549-DE45-3855-83D86D5FC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Dice Similarity Coefficient (DSC)</a:t>
                </a:r>
              </a:p>
              <a:p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Intersection over Union (</a:t>
                </a:r>
                <a:r>
                  <a:rPr lang="en-US" altLang="zh-TW" sz="2400" b="1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IoU</a:t>
                </a:r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Model Complexity (Parameters &amp; FLOPs)</a:t>
                </a:r>
              </a:p>
              <a:p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Inference Time per Image (</a:t>
                </a:r>
                <a:r>
                  <a:rPr lang="en-US" altLang="zh-TW" sz="2400" b="1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ms</a:t>
                </a:r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/image)</a:t>
                </a:r>
              </a:p>
              <a:p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Composite Efficiency Index (CEI)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𝐶𝐸𝐼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𝐷𝑆𝐶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𝑃𝑎𝑟𝑎𝑚𝑠</m:t>
                              </m:r>
                              <m:r>
                                <a:rPr lang="zh-TW" altLang="zh-TW" sz="240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𝐼𝑛𝑓𝑒𝑟𝑒𝑛𝑐𝑒𝑇𝑖𝑚𝑒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TW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60452D-9549-DE45-3855-83D86D5FC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885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B242-09B1-C62B-1ADD-25CED7E9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5F0577F-A2BF-ACF2-E67B-85CB6F1E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Test Results of First Stage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6F4F4E24-6EB7-D71E-1717-A6D2FFDA99D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32073"/>
              </p:ext>
            </p:extLst>
          </p:nvPr>
        </p:nvGraphicFramePr>
        <p:xfrm>
          <a:off x="838200" y="4311650"/>
          <a:ext cx="1051560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820167" imgH="1057173" progId="Excel.Sheet.12">
                  <p:embed/>
                </p:oleObj>
              </mc:Choice>
              <mc:Fallback>
                <p:oleObj name="Worksheet" r:id="rId3" imgW="9820167" imgH="105717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4311650"/>
                        <a:ext cx="10515600" cy="113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C872E673-170A-F5E0-9B68-42C06A64F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706" y="1690688"/>
            <a:ext cx="582058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3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B1FE-E060-2010-68AC-786594B1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25466B3-4403-66AD-5A21-D4AF37E1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Test Results of Second Stage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2F74F26A-7390-3FA4-0C4E-49C25BBAFB6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064863"/>
              </p:ext>
            </p:extLst>
          </p:nvPr>
        </p:nvGraphicFramePr>
        <p:xfrm>
          <a:off x="327421" y="1915998"/>
          <a:ext cx="11537157" cy="3026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620161" imgH="2523989" progId="Excel.Sheet.12">
                  <p:embed/>
                </p:oleObj>
              </mc:Choice>
              <mc:Fallback>
                <p:oleObj name="Worksheet" r:id="rId3" imgW="9620161" imgH="25239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421" y="1915998"/>
                        <a:ext cx="11537157" cy="3026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636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DE50-002D-5BF3-443E-41B8B2EB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9BA13E3-55CC-6DE0-B8F0-19837848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Quantitative indices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94C78D-F8A7-AC9C-2BF9-B3CA5A48E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Foreground Accuracy (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FG_Acc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Background Accuracy (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BG_Acc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Balanced Accuracy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Overall Accuracy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Precision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Recall (Sensitivity)</a:t>
            </a:r>
          </a:p>
          <a:p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F1-score</a:t>
            </a:r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4685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0358-DE53-AC78-6B93-7A127DA4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C91C9F9-98E2-0AB3-7A8D-9D7B8F18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ISIC 2017 Test Results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0F5F0EE8-2ABA-CCEA-D625-536DDB9DBCB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825108"/>
              </p:ext>
            </p:extLst>
          </p:nvPr>
        </p:nvGraphicFramePr>
        <p:xfrm>
          <a:off x="471707" y="2149654"/>
          <a:ext cx="11248585" cy="2558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096657" imgH="2523989" progId="Excel.Sheet.12">
                  <p:embed/>
                </p:oleObj>
              </mc:Choice>
              <mc:Fallback>
                <p:oleObj name="Worksheet" r:id="rId3" imgW="11096657" imgH="2523989" progId="Excel.Sheet.12">
                  <p:embed/>
                  <p:pic>
                    <p:nvPicPr>
                      <p:cNvPr id="8" name="內容版面配置區 7">
                        <a:extLst>
                          <a:ext uri="{FF2B5EF4-FFF2-40B4-BE49-F238E27FC236}">
                            <a16:creationId xmlns:a16="http://schemas.microsoft.com/office/drawing/2014/main" id="{8904DE0A-32FE-B52C-D5DC-3965D6E75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707" y="2149654"/>
                        <a:ext cx="11248585" cy="2558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525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1214F8-03EF-FD65-4102-80F0E0FB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強韌度測試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Dataset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FE6727-0403-7ED3-3260-50248DECD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Cross-year Robustness</a:t>
            </a:r>
            <a:r>
              <a:rPr lang="zh-TW" altLang="en-US" sz="2400" dirty="0"/>
              <a:t>：</a:t>
            </a:r>
            <a:r>
              <a:rPr lang="en-US" altLang="zh-TW" sz="2400" dirty="0"/>
              <a:t>ISIC 2017 → ISIC 2016</a:t>
            </a:r>
          </a:p>
          <a:p>
            <a:pPr marL="0" indent="0">
              <a:buNone/>
            </a:pPr>
            <a:r>
              <a:rPr lang="zh-TW" altLang="en-US" sz="2400" dirty="0"/>
              <a:t>使用 </a:t>
            </a:r>
            <a:r>
              <a:rPr lang="en-US" altLang="zh-TW" sz="2400" dirty="0"/>
              <a:t>ISIC 2016 </a:t>
            </a:r>
            <a:r>
              <a:rPr lang="zh-TW" altLang="en-US" sz="2400" dirty="0"/>
              <a:t>的 測試資料（</a:t>
            </a:r>
            <a:r>
              <a:rPr lang="en-US" altLang="zh-TW" sz="2400" dirty="0"/>
              <a:t>379 </a:t>
            </a:r>
            <a:r>
              <a:rPr lang="zh-TW" altLang="en-US" sz="2400" dirty="0"/>
              <a:t>張影像與對應 </a:t>
            </a:r>
            <a:r>
              <a:rPr lang="en-US" altLang="zh-TW" sz="2400" dirty="0"/>
              <a:t>segmentation masks</a:t>
            </a:r>
            <a:r>
              <a:rPr lang="zh-TW" altLang="en-US" sz="2400" dirty="0"/>
              <a:t>） 作為跨年份泛化能力評估，並未使用其訓練資料進行重新訓練。</a:t>
            </a:r>
            <a:endParaRPr lang="en-US" altLang="zh-TW" sz="2400" dirty="0"/>
          </a:p>
          <a:p>
            <a:r>
              <a:rPr lang="en-US" altLang="zh-TW" sz="2400" dirty="0"/>
              <a:t>Gaussian Noise Robust Test</a:t>
            </a:r>
            <a:r>
              <a:rPr lang="zh-TW" altLang="en-US" sz="2400" dirty="0"/>
              <a:t> （ </a:t>
            </a:r>
            <a:r>
              <a:rPr lang="en-US" altLang="zh-TW" sz="2400" dirty="0"/>
              <a:t>from ISIC 2017</a:t>
            </a:r>
            <a:r>
              <a:rPr lang="zh-TW" altLang="en-US" sz="2400" dirty="0"/>
              <a:t> ）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此測試可模擬感測器噪訊、光照不均與壓縮失真等實際臨床攝影條件，並能有效評估模型的 </a:t>
            </a:r>
            <a:r>
              <a:rPr lang="en-US" altLang="zh-TW" sz="2400" dirty="0"/>
              <a:t>noise robustness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en-US" altLang="zh-TW" sz="2400" dirty="0"/>
              <a:t>Resolution-Degraded Robust Test</a:t>
            </a:r>
            <a:r>
              <a:rPr lang="zh-TW" altLang="en-US" sz="2400" dirty="0"/>
              <a:t> （ </a:t>
            </a:r>
            <a:r>
              <a:rPr lang="en-US" altLang="zh-TW" sz="2400" dirty="0"/>
              <a:t>from ISIC 2017</a:t>
            </a:r>
            <a:r>
              <a:rPr lang="zh-TW" altLang="en-US" sz="2400" dirty="0"/>
              <a:t> ）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為模擬低解析度相機或影像放大造成的模糊</a:t>
            </a:r>
          </a:p>
        </p:txBody>
      </p:sp>
    </p:spTree>
    <p:extLst>
      <p:ext uri="{BB962C8B-B14F-4D97-AF65-F5344CB8AC3E}">
        <p14:creationId xmlns:p14="http://schemas.microsoft.com/office/powerpoint/2010/main" val="134902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F78AD-078A-1FDB-FD2F-ECD4FD79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Cross-year Robustness</a:t>
            </a:r>
            <a:endParaRPr lang="zh-TW" altLang="en-US" dirty="0"/>
          </a:p>
        </p:txBody>
      </p:sp>
      <p:graphicFrame>
        <p:nvGraphicFramePr>
          <p:cNvPr id="30" name="內容版面配置區 29">
            <a:extLst>
              <a:ext uri="{FF2B5EF4-FFF2-40B4-BE49-F238E27FC236}">
                <a16:creationId xmlns:a16="http://schemas.microsoft.com/office/drawing/2014/main" id="{2AA40BF9-58F2-770D-FE24-F6C6923BC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40034"/>
              </p:ext>
            </p:extLst>
          </p:nvPr>
        </p:nvGraphicFramePr>
        <p:xfrm>
          <a:off x="838200" y="2241042"/>
          <a:ext cx="10515600" cy="237591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99704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56186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00928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7431119"/>
                    </a:ext>
                  </a:extLst>
                </a:gridCol>
              </a:tblGrid>
              <a:tr h="183600">
                <a:tc>
                  <a:txBody>
                    <a:bodyPr/>
                    <a:lstStyle/>
                    <a:p>
                      <a:pPr marL="22860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2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</a:rPr>
                        <a:t>原始</a:t>
                      </a:r>
                      <a:r>
                        <a:rPr lang="en-US" sz="1200" kern="100" dirty="0">
                          <a:effectLst/>
                        </a:rPr>
                        <a:t> Dice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2016 Dice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增幅（</a:t>
                      </a:r>
                      <a:r>
                        <a:rPr lang="en-US" sz="1200" kern="100">
                          <a:effectLst/>
                        </a:rPr>
                        <a:t>2016 −</a:t>
                      </a:r>
                      <a:r>
                        <a:rPr lang="zh-TW" sz="1200" kern="100">
                          <a:effectLst/>
                        </a:rPr>
                        <a:t>原始）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9023402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S_CBAM_v3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0.8415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0.9643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0.1228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3136235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S_CPCA_1_3_5_v3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0.8430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0.9658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0.1228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0976742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S_CPCA_3_5_7_v3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0.8445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0.9606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0.1161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7529553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S_CPCA_7_11_21_v3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0.8467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0.9567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0.1100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3918437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S_CPCA_11_21_41_v3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0.8453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0.9642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0.1189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5117383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S_HYBA_135_v3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0.8522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0.9246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0.0724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941882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S_HYBB_135_v3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0.8539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0.9575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0.1036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7122800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S_HYBA_357_v3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0.8405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0.9645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0.1240</a:t>
                      </a:r>
                      <a:r>
                        <a:rPr lang="zh-TW" sz="1200" b="1" kern="100" dirty="0">
                          <a:effectLst/>
                        </a:rPr>
                        <a:t>（最大）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3163805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S_HYBB_357_v3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0.8381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0.9590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0.1209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5808908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S_HYBA_71121_v3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0.8461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0.9682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0.1221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8702313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S_HYBB_71121_v3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0.8397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0.9590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0.1193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2159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81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C8D2-0F51-91EB-9563-173E6ADF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67C753-9EFD-E63F-3625-DD5EEE8E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Noise Robustness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Gaussian Noise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585B120-B984-DE5D-13D2-A3412DFB2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472174"/>
              </p:ext>
            </p:extLst>
          </p:nvPr>
        </p:nvGraphicFramePr>
        <p:xfrm>
          <a:off x="838200" y="2241000"/>
          <a:ext cx="10515600" cy="23760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37940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70672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43186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10965918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 dirty="0">
                          <a:effectLst/>
                        </a:rPr>
                        <a:t>模型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>
                          <a:effectLst/>
                        </a:rPr>
                        <a:t>原始</a:t>
                      </a:r>
                      <a:r>
                        <a:rPr lang="en-US" sz="1200" kern="100">
                          <a:effectLst/>
                        </a:rPr>
                        <a:t> Dice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Noise Dice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>
                          <a:effectLst/>
                        </a:rPr>
                        <a:t>降幅（原始</a:t>
                      </a:r>
                      <a:r>
                        <a:rPr lang="en-US" sz="1200" kern="100">
                          <a:effectLst/>
                        </a:rPr>
                        <a:t> − noise</a:t>
                      </a:r>
                      <a:r>
                        <a:rPr lang="zh-TW" sz="1200" kern="100">
                          <a:effectLst/>
                        </a:rPr>
                        <a:t>）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146211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S_CBAM_v3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0.8415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0.8372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0.0043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324949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S_CPCA_1_3_5_v3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0.8430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0.8366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0.0064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844977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S_CPCA_3_5_7_v3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0.8445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0.8350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0.0095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792083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S_CPCA_7_11_21_v3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0.8371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0.0096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34476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S_CPCA_11_21_41_v3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0.8388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0.0065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450308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S_HYBA_135_v3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0.8522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>
                          <a:effectLst/>
                        </a:rPr>
                        <a:t>0.8476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0.0046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23116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S_HYBB_135_v3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>
                          <a:effectLst/>
                        </a:rPr>
                        <a:t>0.8539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0.8449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0.0090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80319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S_HYBA_357_v3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0.8405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0.8367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0.0038</a:t>
                      </a:r>
                      <a:r>
                        <a:rPr lang="zh-TW" sz="1200" b="1" kern="100" dirty="0">
                          <a:effectLst/>
                        </a:rPr>
                        <a:t>（最小）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3261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0.8381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0.8326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0.0055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132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S_HYBA_71121_v3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0.8407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0.0054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6218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S_HYBB_71121_v3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0.8397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0.8288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0.0109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99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55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9AA-0999-8AA1-F8C0-54C10FA6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Resolution Robustness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389428D1-C6BD-BC02-6C1E-5629067E7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464721"/>
              </p:ext>
            </p:extLst>
          </p:nvPr>
        </p:nvGraphicFramePr>
        <p:xfrm>
          <a:off x="838200" y="2241000"/>
          <a:ext cx="10515600" cy="23760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115587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4141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53116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4128513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 dirty="0">
                          <a:effectLst/>
                        </a:rPr>
                        <a:t>模型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>
                          <a:effectLst/>
                        </a:rPr>
                        <a:t>原始</a:t>
                      </a:r>
                      <a:r>
                        <a:rPr lang="en-US" sz="1200" kern="100">
                          <a:effectLst/>
                        </a:rPr>
                        <a:t> Dice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Res128 Dice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>
                          <a:effectLst/>
                        </a:rPr>
                        <a:t>差值（</a:t>
                      </a:r>
                      <a:r>
                        <a:rPr lang="en-US" sz="1200" kern="100">
                          <a:effectLst/>
                        </a:rPr>
                        <a:t>Res128 − </a:t>
                      </a:r>
                      <a:r>
                        <a:rPr lang="zh-TW" sz="1200" kern="100">
                          <a:effectLst/>
                        </a:rPr>
                        <a:t>原始）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90318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S_CBAM_v3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0.8415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+0.0035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1452889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S_CPCA_1_3_5_v3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0.8430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0.8422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−0.0008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405244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S_CPCA_3_5_7_v3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0.8445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0.8430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−0.0015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053277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S_CPCA_7_11_21_v3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0.8473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+0.0006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556308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S_CPCA_11_21_41_v3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+0.0002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765765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S_HYBA_135_v3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0.8522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0.8498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−0.0024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6484116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S_HYBB_135_v3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0.8539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0.8542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+0.0003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332904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0.8405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0.8419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+0.0014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5833964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0.8381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0.8408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+0.0027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9885415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S_HYBA_71121_v3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0.8474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+0.0013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7261517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S_HYBB_71121_v3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0.8397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0.8395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−0.0002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41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79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D895-32B1-82E0-0403-C2177EA0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C96F1C-7B23-16A4-6DA8-310471E3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Robustness Comparison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02A8C72-C459-C2EC-45F8-A13A01F571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294924"/>
              </p:ext>
            </p:extLst>
          </p:nvPr>
        </p:nvGraphicFramePr>
        <p:xfrm>
          <a:off x="838200" y="2241000"/>
          <a:ext cx="10515600" cy="2375993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413016">
                  <a:extLst>
                    <a:ext uri="{9D8B030D-6E8A-4147-A177-3AD203B41FA5}">
                      <a16:colId xmlns:a16="http://schemas.microsoft.com/office/drawing/2014/main" val="2711558781"/>
                    </a:ext>
                  </a:extLst>
                </a:gridCol>
                <a:gridCol w="1126639">
                  <a:extLst>
                    <a:ext uri="{9D8B030D-6E8A-4147-A177-3AD203B41FA5}">
                      <a16:colId xmlns:a16="http://schemas.microsoft.com/office/drawing/2014/main" val="136414146"/>
                    </a:ext>
                  </a:extLst>
                </a:gridCol>
                <a:gridCol w="1187815">
                  <a:extLst>
                    <a:ext uri="{9D8B030D-6E8A-4147-A177-3AD203B41FA5}">
                      <a16:colId xmlns:a16="http://schemas.microsoft.com/office/drawing/2014/main" val="446815924"/>
                    </a:ext>
                  </a:extLst>
                </a:gridCol>
                <a:gridCol w="1241354">
                  <a:extLst>
                    <a:ext uri="{9D8B030D-6E8A-4147-A177-3AD203B41FA5}">
                      <a16:colId xmlns:a16="http://schemas.microsoft.com/office/drawing/2014/main" val="510494254"/>
                    </a:ext>
                  </a:extLst>
                </a:gridCol>
                <a:gridCol w="1515592">
                  <a:extLst>
                    <a:ext uri="{9D8B030D-6E8A-4147-A177-3AD203B41FA5}">
                      <a16:colId xmlns:a16="http://schemas.microsoft.com/office/drawing/2014/main" val="675311635"/>
                    </a:ext>
                  </a:extLst>
                </a:gridCol>
                <a:gridCol w="1515592">
                  <a:extLst>
                    <a:ext uri="{9D8B030D-6E8A-4147-A177-3AD203B41FA5}">
                      <a16:colId xmlns:a16="http://schemas.microsoft.com/office/drawing/2014/main" val="2712090198"/>
                    </a:ext>
                  </a:extLst>
                </a:gridCol>
                <a:gridCol w="1515592">
                  <a:extLst>
                    <a:ext uri="{9D8B030D-6E8A-4147-A177-3AD203B41FA5}">
                      <a16:colId xmlns:a16="http://schemas.microsoft.com/office/drawing/2014/main" val="2453655263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 dirty="0">
                          <a:effectLst/>
                        </a:rPr>
                        <a:t>模型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zh-TW" sz="1200" kern="100" dirty="0">
                          <a:effectLst/>
                        </a:rPr>
                        <a:t>原始</a:t>
                      </a:r>
                      <a:r>
                        <a:rPr lang="en-US" sz="1200" kern="100" dirty="0">
                          <a:effectLst/>
                        </a:rPr>
                        <a:t> Dice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2016 Dice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Noise Dice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Res128 Dice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buNone/>
                      </a:pPr>
                      <a:r>
                        <a:rPr lang="en-US" altLang="zh-TW" sz="1200" kern="100" dirty="0">
                          <a:effectLst/>
                          <a:latin typeface="+mn-lt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mean</a:t>
                      </a:r>
                      <a:endParaRPr lang="zh-TW" sz="12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buNone/>
                      </a:pPr>
                      <a:r>
                        <a:rPr lang="en-US" altLang="zh-TW" sz="1200" kern="100" dirty="0">
                          <a:effectLst/>
                          <a:latin typeface="+mn-lt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std</a:t>
                      </a:r>
                      <a:endParaRPr lang="zh-TW" sz="12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9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S_CBAM_v3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0.8415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0.9643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0.8372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0.8450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0.8720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541452889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S_CPCA_1_3_5_v3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0.8430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0.9658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0.8366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0.8422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0.8719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0.0543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1405244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S_CPCA_3_5_7_v3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0.8445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0.9606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0.8350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0.8430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0.8708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0.0520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42053277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S_CPCA_7_11_21_v3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0.9567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0.8371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0.8473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0.8720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0.0491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822556308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S_CPCA_11_21_41_v3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0.9642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0.8388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0.8455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0.8735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0.0525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21765765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S_HYBA_135_v3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0.8522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0.9246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>
                          <a:effectLst/>
                        </a:rPr>
                        <a:t>0.8476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0.8498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116484116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S_HYBB_135_v3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0.8539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0.9575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0.8449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0.8542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0.8776</a:t>
                      </a:r>
                    </a:p>
                  </a:txBody>
                  <a:tcPr marL="9525" marR="9525" marT="9525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0.0463</a:t>
                      </a:r>
                    </a:p>
                  </a:txBody>
                  <a:tcPr marL="9525" marR="9525" marT="9525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32904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0.8405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0.9645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0.8367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0.8419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0.8709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0.0541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845833964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S_HYBB_357_v3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0.8381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0.9590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0.8326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0.8408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0.8676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0.0528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39885415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S_HYBA_71121_v3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0.8461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0.9682</a:t>
                      </a:r>
                      <a:endParaRPr lang="zh-TW" sz="1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0.8407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0.8474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0.8756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0.0535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677261517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>
                          <a:effectLst/>
                        </a:rPr>
                        <a:t>S_HYBB_71121_v3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0.8397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0.9590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0.8288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>
                        <a:buNone/>
                      </a:pPr>
                      <a:r>
                        <a:rPr lang="en-US" sz="1200" kern="100" dirty="0">
                          <a:effectLst/>
                        </a:rPr>
                        <a:t>0.8395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0.8668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88441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503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3AD1-2B75-65D6-51B7-43881050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937FFF3-EE5F-B2B4-1A4C-EAB04DCE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Conclusion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8199EB6-5C7A-6633-F699-C83E630A6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CPCA 有效性 (Effectiveness)：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證實多尺度卷積 (Multi-scale) 比傳統 CBAM 更適合醫療影像分割任務。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Hybrid 架構優勢 (Hybrid Advantage)：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成功結合 CNN (局部特徵) 與 Transformer (全域特徵) 之互補性。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強韌性與泛化 (Robustness &amp; Generalization)：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在跨年份測試 (ISIC 2016) 與影像劣化情境下，均展現高度穩定性。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最佳權衡 (Optimal Trade-off)：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Hybrid-B (1,3,5)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在效能 (Dice) 與效率 (CEI) 間取得最佳平衡，為本研究推薦之模型。</a:t>
            </a: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3454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BDEC-5A28-098B-68D9-0561FCA6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8CE9208-4EDB-F3B8-661D-87306379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Future Work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2F13E25-6014-8033-647F-18FAF4C6C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動態卷積機制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(Dynamic Mechanism)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引入 可學習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(Learnable)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或 動態卷積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(Dynamic Convolution)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，讓模型能根據圖像內容自動調整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kernel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權重。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強化特徵建模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(Advanced Modeling)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結合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Vision Transformer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的多尺度特徵提取技術（如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Swin Transformer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），提升全域感知能力。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架構優化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(Architecture Optimization)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探索更多樣化的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Attention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組合方式（例如透過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NAS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神經架構搜尋），找出比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Hybrid-B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更佳的配置。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泛化能力驗證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(Domain Generalization)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在更強烈的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Domain Shift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情境下（如 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MRI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CT 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或不同人種皮膚數據）評估模型強韌性。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28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2466</TotalTime>
  <Words>1526</Words>
  <Application>Microsoft Office PowerPoint</Application>
  <PresentationFormat>寬螢幕</PresentationFormat>
  <Paragraphs>361</Paragraphs>
  <Slides>20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標楷體</vt:lpstr>
      <vt:lpstr>Arial</vt:lpstr>
      <vt:lpstr>Calibri</vt:lpstr>
      <vt:lpstr>Calibri Light</vt:lpstr>
      <vt:lpstr>Cambria Math</vt:lpstr>
      <vt:lpstr>Office 佈景主題</vt:lpstr>
      <vt:lpstr>Worksheet</vt:lpstr>
      <vt:lpstr>Microsoft Excel 工作表</vt:lpstr>
      <vt:lpstr>CSAP-UNet 注意力模組替換與多尺度 CPCA 的效能分析</vt:lpstr>
      <vt:lpstr>Motivation / 問題動機</vt:lpstr>
      <vt:lpstr>CSAP-UNet 模型架構重點(整體)</vt:lpstr>
      <vt:lpstr>CSAP-UNet 模型架構重點(AFM)</vt:lpstr>
      <vt:lpstr>CSAP-UNet 模型架構重點(替換部分)</vt:lpstr>
      <vt:lpstr>Proposed Method</vt:lpstr>
      <vt:lpstr>Dataset &amp; Training Setup</vt:lpstr>
      <vt:lpstr>Dataset &amp; Training Setup</vt:lpstr>
      <vt:lpstr>Quantitative indices</vt:lpstr>
      <vt:lpstr>Test Results of First Stage</vt:lpstr>
      <vt:lpstr>Test Results of Second Stage</vt:lpstr>
      <vt:lpstr>Quantitative indices</vt:lpstr>
      <vt:lpstr>ISIC 2017 Test Results</vt:lpstr>
      <vt:lpstr>強韌度測試 Dataset</vt:lpstr>
      <vt:lpstr>Cross-year Robustness</vt:lpstr>
      <vt:lpstr>Noise Robustness：Gaussian Noise</vt:lpstr>
      <vt:lpstr>Resolution Robustness</vt:lpstr>
      <vt:lpstr>Robustness Comparison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Huang</dc:creator>
  <cp:lastModifiedBy>Eric Huang</cp:lastModifiedBy>
  <cp:revision>5</cp:revision>
  <dcterms:created xsi:type="dcterms:W3CDTF">2025-12-02T03:51:44Z</dcterms:created>
  <dcterms:modified xsi:type="dcterms:W3CDTF">2025-12-13T17:14:41Z</dcterms:modified>
</cp:coreProperties>
</file>